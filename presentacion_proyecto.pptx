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12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1C3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2011680" cy="2011680"/>
          </a:xfrm>
          <a:prstGeom prst="ellipse">
            <a:avLst/>
          </a:prstGeom>
          <a:solidFill>
            <a:srgbClr val="25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0C1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0"/>
            <a:ext cx="91440" cy="6858000"/>
          </a:xfrm>
          <a:prstGeom prst="rect">
            <a:avLst/>
          </a:prstGeom>
          <a:solidFill>
            <a:srgbClr val="1E4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914400"/>
            <a:ext cx="9875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  <a:latin typeface="Arial"/>
              </a:defRPr>
            </a:pPr>
            <a:r>
              <a:t>Analisis de Riesgo y Prediccion</a:t>
            </a:r>
          </a:p>
          <a:p>
            <a:pPr>
              <a:defRPr sz="4800" b="1">
                <a:solidFill>
                  <a:srgbClr val="60A5FA"/>
                </a:solidFill>
                <a:latin typeface="Arial"/>
              </a:defRPr>
            </a:pPr>
            <a:r>
              <a:t>del Rendimiento Estudiantil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94A3B8"/>
                </a:solidFill>
                <a:latin typeface="Arial"/>
              </a:defRPr>
            </a:pPr>
            <a:r>
              <a:t>Deteccion temprana de la desercion universitaria mediante Machine Learning e IA Explicable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931920"/>
            <a:ext cx="50292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4160520"/>
            <a:ext cx="141732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78807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8FAFC"/>
                </a:solidFill>
                <a:latin typeface="Arial"/>
              </a:defRPr>
            </a:pPr>
            <a: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8608" y="4160520"/>
            <a:ext cx="14173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8608" y="4178807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8FAFC"/>
                </a:solidFill>
                <a:latin typeface="Arial"/>
              </a:defRPr>
            </a:pPr>
            <a:r>
              <a:t>XGBoost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51376" y="4160520"/>
            <a:ext cx="1417320" cy="3840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51376" y="4178807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8FAFC"/>
                </a:solidFill>
                <a:latin typeface="Arial"/>
              </a:defRPr>
            </a:pPr>
            <a:r>
              <a:t>SHAP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24144" y="4160520"/>
            <a:ext cx="141732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144" y="4178807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8FAFC"/>
                </a:solidFill>
                <a:latin typeface="Arial"/>
              </a:defRPr>
            </a:pPr>
            <a:r>
              <a:t>Streamlit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912" y="4160520"/>
            <a:ext cx="1417320" cy="384048"/>
          </a:xfrm>
          <a:prstGeom prst="roundRect">
            <a:avLst/>
          </a:prstGeom>
          <a:solidFill>
            <a:srgbClr val="0F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4178807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8FAFC"/>
                </a:solidFill>
                <a:latin typeface="Arial"/>
              </a:defRPr>
            </a:pPr>
            <a:r>
              <a:t>K-Means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577840"/>
            <a:ext cx="12188952" cy="82296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05272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60A5FA"/>
                </a:solidFill>
                <a:latin typeface="Arial"/>
              </a:defRPr>
            </a:pPr>
            <a:r>
              <a:t>76.6%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0760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Accuracy XGBoost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39" y="5650992"/>
            <a:ext cx="18288" cy="548640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5605272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60A5FA"/>
                </a:solidFill>
                <a:latin typeface="Arial"/>
              </a:defRPr>
            </a:pPr>
            <a:r>
              <a:t>32.1%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600760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Tasa Desercion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5650992"/>
            <a:ext cx="18288" cy="548640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5605272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60A5F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600760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Paradigmas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5650992"/>
            <a:ext cx="18288" cy="548640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5605272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60A5F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600760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Algoritmos 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5650992"/>
            <a:ext cx="18288" cy="548640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5605272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60A5F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600760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Pruebas Unitarias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1E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8FAFC"/>
                </a:solidFill>
                <a:latin typeface="Arial"/>
              </a:defRPr>
            </a:pPr>
            <a:r>
              <a:t>Analisis de Riesgo Estudiantil  |  Python · XGBoost · SHAP · Streamlit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0E1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Introduccion y Contexto de la Desercion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31520"/>
            <a:ext cx="3657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024128"/>
            <a:ext cx="4251960" cy="516636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960120"/>
            <a:ext cx="4251960" cy="5166360"/>
          </a:xfrm>
          <a:prstGeom prst="roundRect">
            <a:avLst/>
          </a:prstGeom>
          <a:solidFill>
            <a:srgbClr val="260808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960120"/>
            <a:ext cx="4251960" cy="11887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188720"/>
            <a:ext cx="3977639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200" b="1" i="0">
                <a:solidFill>
                  <a:srgbClr val="EF4444"/>
                </a:solidFill>
                <a:latin typeface="Arial"/>
              </a:defRPr>
            </a:pPr>
            <a:r>
              <a:t>32.1%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397763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Tasa Historica de Desercion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172968"/>
            <a:ext cx="3291840" cy="27432"/>
          </a:xfrm>
          <a:prstGeom prst="rect">
            <a:avLst/>
          </a:prstGeom>
          <a:solidFill>
            <a:srgbClr val="50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91840"/>
            <a:ext cx="38862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  <a:latin typeface="Arial"/>
              </a:defRPr>
            </a:pPr>
            <a:r>
              <a:t>La desercion en educacion superior es un problema multifactorial que afecta a estudiantes e instituciones. La deteccion y alerta temprana durante el primer semestre es vital para mejorar la retencion.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76088" y="1024128"/>
            <a:ext cx="6629400" cy="237744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0" y="960120"/>
            <a:ext cx="6629400" cy="23774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C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0" y="960120"/>
            <a:ext cx="662940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124712"/>
            <a:ext cx="62636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F59E0B"/>
                </a:solidFill>
                <a:latin typeface="Arial"/>
              </a:defRPr>
            </a:pPr>
            <a:r>
              <a:t>El Desafio de la Intervencion Academica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572768"/>
            <a:ext cx="6217920" cy="27432"/>
          </a:xfrm>
          <a:prstGeom prst="rect">
            <a:avLst/>
          </a:prstGeom>
          <a:solidFill>
            <a:srgbClr val="3C2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1691640"/>
            <a:ext cx="62636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Arial"/>
              </a:defRPr>
            </a:pPr>
            <a:r>
              <a:t>Las instituciones actuan tarde: cuando el alumno ya ha reprobado o abandonado. Identificar alertas financieras y academicas desde el primer semestre permite una respuesta agil y focalizada.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76088" y="3630168"/>
            <a:ext cx="6629400" cy="237744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12080" y="3566160"/>
            <a:ext cx="6629400" cy="23774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C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12080" y="3566160"/>
            <a:ext cx="662940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730752"/>
            <a:ext cx="62636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10B981"/>
                </a:solidFill>
                <a:latin typeface="Arial"/>
              </a:defRPr>
            </a:pPr>
            <a:r>
              <a:t>La Solucion Propuesta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4178808"/>
            <a:ext cx="6217920" cy="27432"/>
          </a:xfrm>
          <a:prstGeom prst="rect">
            <a:avLst/>
          </a:prstGeom>
          <a:solidFill>
            <a:srgbClr val="0C3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4297680"/>
            <a:ext cx="62636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Arial"/>
              </a:defRPr>
            </a:pPr>
            <a:r>
              <a:t>Un sistema integral que calcula el score de riesgo exacto de cada estudiante, identifica su perfil socioeconomico mediante clustering y explica los motivos con Inteligencia Artificial Explicable (SHAP).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1E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8FAFC"/>
                </a:solidFill>
                <a:latin typeface="Arial"/>
              </a:defRPr>
            </a:pPr>
            <a:r>
              <a:t>Analisis de Riesgo Estudiantil  |  Python · XGBoost · SHAP · Streamlit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0E1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Estructura de Datos del Estudiante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31520"/>
            <a:ext cx="3657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024128"/>
            <a:ext cx="3584448" cy="521208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960120"/>
            <a:ext cx="3584448" cy="521208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C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960120"/>
            <a:ext cx="3584448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1115568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16586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719072"/>
            <a:ext cx="321868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F8FAFC"/>
                </a:solidFill>
                <a:latin typeface="Arial"/>
              </a:defRPr>
            </a:pPr>
            <a:r>
              <a:t>Variables Demograficas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167128"/>
            <a:ext cx="306324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2395728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30428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Edad al inscribirse (factor critico).</a:t>
            </a:r>
          </a:p>
        </p:txBody>
      </p:sp>
      <p:sp>
        <p:nvSpPr>
          <p:cNvPr id="19" name="Oval 18"/>
          <p:cNvSpPr/>
          <p:nvPr/>
        </p:nvSpPr>
        <p:spPr>
          <a:xfrm>
            <a:off x="822959" y="2990088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89864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Genero e informacion de desplazamiento.</a:t>
            </a:r>
          </a:p>
        </p:txBody>
      </p:sp>
      <p:sp>
        <p:nvSpPr>
          <p:cNvPr id="21" name="Oval 20"/>
          <p:cNvSpPr/>
          <p:nvPr/>
        </p:nvSpPr>
        <p:spPr>
          <a:xfrm>
            <a:off x="822959" y="3584448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49300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Estado civil y nacionalidad.</a:t>
            </a:r>
          </a:p>
        </p:txBody>
      </p:sp>
      <p:sp>
        <p:nvSpPr>
          <p:cNvPr id="23" name="Oval 22"/>
          <p:cNvSpPr/>
          <p:nvPr/>
        </p:nvSpPr>
        <p:spPr>
          <a:xfrm>
            <a:off x="822959" y="4178807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08736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Condicion de estudiante internacional.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08576" y="1024128"/>
            <a:ext cx="3584448" cy="521208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44568" y="960120"/>
            <a:ext cx="3584448" cy="521208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C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44568" y="960120"/>
            <a:ext cx="3584448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81728" y="111556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116586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$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1719072"/>
            <a:ext cx="321868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F8FAFC"/>
                </a:solidFill>
                <a:latin typeface="Arial"/>
              </a:defRPr>
            </a:pPr>
            <a:r>
              <a:t>Factores Socioeconomicos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27448" y="2167128"/>
            <a:ext cx="306324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27448" y="23957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230428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Becario (principal factor protector).</a:t>
            </a:r>
          </a:p>
        </p:txBody>
      </p:sp>
      <p:sp>
        <p:nvSpPr>
          <p:cNvPr id="34" name="Oval 33"/>
          <p:cNvSpPr/>
          <p:nvPr/>
        </p:nvSpPr>
        <p:spPr>
          <a:xfrm>
            <a:off x="4727448" y="299008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289864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Deudor de matricula y pagos al dia.</a:t>
            </a:r>
          </a:p>
        </p:txBody>
      </p:sp>
      <p:sp>
        <p:nvSpPr>
          <p:cNvPr id="36" name="Oval 35"/>
          <p:cNvSpPr/>
          <p:nvPr/>
        </p:nvSpPr>
        <p:spPr>
          <a:xfrm>
            <a:off x="4727448" y="35844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349300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Instruccion y ocupacion de los padres.</a:t>
            </a:r>
          </a:p>
        </p:txBody>
      </p:sp>
      <p:sp>
        <p:nvSpPr>
          <p:cNvPr id="38" name="Oval 37"/>
          <p:cNvSpPr/>
          <p:nvPr/>
        </p:nvSpPr>
        <p:spPr>
          <a:xfrm>
            <a:off x="4727448" y="4178807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408736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Necesidades educativas especiales.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13064" y="1024128"/>
            <a:ext cx="3584448" cy="521208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49056" y="960120"/>
            <a:ext cx="3584448" cy="521208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C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49056" y="960120"/>
            <a:ext cx="358444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86216" y="111556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86216" y="116586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8FAFC"/>
                </a:solidFill>
                <a:latin typeface="Arial"/>
              </a:defRPr>
            </a:pPr>
            <a:r>
              <a:t>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31936" y="1719072"/>
            <a:ext cx="321868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F8FAFC"/>
                </a:solidFill>
                <a:latin typeface="Arial"/>
              </a:defRPr>
            </a:pPr>
            <a:r>
              <a:t>Desempeno Academico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31936" y="2167128"/>
            <a:ext cx="306324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31936" y="239572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96528" y="230428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U. curriculares aprobadas sem. 1 y 2.</a:t>
            </a:r>
          </a:p>
        </p:txBody>
      </p:sp>
      <p:sp>
        <p:nvSpPr>
          <p:cNvPr id="49" name="Oval 48"/>
          <p:cNvSpPr/>
          <p:nvPr/>
        </p:nvSpPr>
        <p:spPr>
          <a:xfrm>
            <a:off x="8631936" y="299008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96528" y="289864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Calificaciones promedio iniciales.</a:t>
            </a:r>
          </a:p>
        </p:txBody>
      </p:sp>
      <p:sp>
        <p:nvSpPr>
          <p:cNvPr id="51" name="Oval 50"/>
          <p:cNvSpPr/>
          <p:nvPr/>
        </p:nvSpPr>
        <p:spPr>
          <a:xfrm>
            <a:off x="8631936" y="35844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96528" y="349300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Unidades homologadas o acreditadas.</a:t>
            </a:r>
          </a:p>
        </p:txBody>
      </p:sp>
      <p:sp>
        <p:nvSpPr>
          <p:cNvPr id="53" name="Oval 52"/>
          <p:cNvSpPr/>
          <p:nvPr/>
        </p:nvSpPr>
        <p:spPr>
          <a:xfrm>
            <a:off x="8631936" y="4178807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96528" y="408736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Nota de admision al programa.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4088" y="6281928"/>
            <a:ext cx="11201400" cy="384048"/>
          </a:xfrm>
          <a:prstGeom prst="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6217920"/>
            <a:ext cx="11201400" cy="384048"/>
          </a:xfrm>
          <a:prstGeom prst="rect">
            <a:avLst/>
          </a:prstGeom>
          <a:solidFill>
            <a:srgbClr val="121E3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626364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Dataset UCI  ·  ~4,000 estudiantes  ·  36 variables de entrada  ·  Objetivo: Dropout / Enrolled / Graduate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1E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8FAFC"/>
                </a:solidFill>
                <a:latin typeface="Arial"/>
              </a:defRPr>
            </a:pPr>
            <a:r>
              <a:t>Analisis de Riesgo Estudiantil  |  Python · XGBoost · SHAP · Streamlit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0E1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Arquitectura y Flujo del Software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31520"/>
            <a:ext cx="3657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024128"/>
            <a:ext cx="1984248" cy="205740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960120"/>
            <a:ext cx="1984248" cy="20574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960120"/>
            <a:ext cx="1984248" cy="109728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6464" y="1115568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115671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1627632"/>
            <a:ext cx="18013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Datos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2057400"/>
            <a:ext cx="180136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Lectura con autodetector de delimitador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60904" y="1874519"/>
            <a:ext cx="73152" cy="292608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35808" y="1024128"/>
            <a:ext cx="1984248" cy="205740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71800" y="960120"/>
            <a:ext cx="1984248" cy="20574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71800" y="960120"/>
            <a:ext cx="1984248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8184" y="111556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8184" y="115671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1627632"/>
            <a:ext cx="18013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Procesador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2057400"/>
            <a:ext cx="180136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Limpieza, normalizacion y split train/test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992624" y="1874519"/>
            <a:ext cx="73152" cy="292608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67528" y="1024128"/>
            <a:ext cx="1984248" cy="205740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03520" y="960120"/>
            <a:ext cx="1984248" cy="20574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03520" y="960120"/>
            <a:ext cx="1984248" cy="10972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89904" y="1115568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9904" y="115671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59" y="1627632"/>
            <a:ext cx="18013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Clasificador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59" y="2057400"/>
            <a:ext cx="180136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XGBoost, Random Forest, Reg. Logistica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324344" y="1874519"/>
            <a:ext cx="73152" cy="292608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99248" y="1024128"/>
            <a:ext cx="1984248" cy="205740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35240" y="960120"/>
            <a:ext cx="1984248" cy="20574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35240" y="960120"/>
            <a:ext cx="1984248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21624" y="111556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21624" y="115671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1627632"/>
            <a:ext cx="18013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Explicabilidad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2057400"/>
            <a:ext cx="180136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Valores de impacto SHAP por variable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656063" y="1874519"/>
            <a:ext cx="73152" cy="292608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30968" y="1024128"/>
            <a:ext cx="1984248" cy="205740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966960" y="960120"/>
            <a:ext cx="1984248" cy="20574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966960" y="960120"/>
            <a:ext cx="198424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53344" y="1115568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53344" y="115671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1627632"/>
            <a:ext cx="180136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2057400"/>
            <a:ext cx="180136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Interfaz interactiva con Streamlit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" y="3310127"/>
            <a:ext cx="3730752" cy="260604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0080" y="3246120"/>
            <a:ext cx="3730752" cy="2606040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" y="3246120"/>
            <a:ext cx="109728" cy="2606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" y="3364992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3B82F6"/>
                </a:solidFill>
                <a:latin typeface="Arial"/>
              </a:defRPr>
            </a:pPr>
            <a:r>
              <a:t>POO — Orientado a Objetos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" y="3794760"/>
            <a:ext cx="324612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6968" y="3886200"/>
            <a:ext cx="33375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Clases independientes: ProcesadorDatos, ClasificadorRendimiento, AgrupadorEstudiantes y ExplicadorRiesgo. Encapsulan el estado del pipeline para reusabilidad limpia.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36008" y="3310127"/>
            <a:ext cx="3730752" cy="260604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72000" y="3246120"/>
            <a:ext cx="3730752" cy="2606040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0" y="3246120"/>
            <a:ext cx="109728" cy="2606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18888" y="3364992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t>PF — Programacion Funcional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18888" y="3794760"/>
            <a:ext cx="324612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18888" y="3886200"/>
            <a:ext cx="33375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Decoradores @medir_tiempo y @capturar_errores. Extienden metodos sin modificar su logica interna. Generan logs de auditoria y tiempo automaticamente.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67928" y="3310127"/>
            <a:ext cx="3730752" cy="260604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503920" y="3246120"/>
            <a:ext cx="3730752" cy="2606040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03920" y="3246120"/>
            <a:ext cx="109728" cy="2606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50808" y="3364992"/>
            <a:ext cx="3337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Arial"/>
              </a:defRPr>
            </a:pPr>
            <a:r>
              <a:t>PP — Procedural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50808" y="3794760"/>
            <a:ext cx="324612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50808" y="3886200"/>
            <a:ext cx="33375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Scripts de orquestacion lineal: descargar_datos.py y test_agrupamiento_explicabilidad.py. Flujo secuencial de descarga, validacion y ejecucion de pruebas.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1E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8FAFC"/>
                </a:solidFill>
                <a:latin typeface="Arial"/>
              </a:defRPr>
            </a:pPr>
            <a:r>
              <a:t>Analisis de Riesgo Estudiantil  |  Python · XGBoost · SHAP · Streamlit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0E1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Resultados de Modelos Predictivos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31520"/>
            <a:ext cx="3657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960120"/>
          <a:ext cx="7132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71600"/>
                <a:gridCol w="228600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Algoritmo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Ventaja Principal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Limitacion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XGBoost  ✓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76.61%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Maxima capacidad predictiva. Elegido como modelo principal.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Mayor costo computacional con SHAP.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75.03%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Muy estable. Rapido en calculo de SHAP.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Menor precision ante relaciones no lineales.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Reg. Logistica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74.01%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Extrema interpretabilidad. Linea base estadistica.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Asume linealidad entre los factores.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10728" y="1024128"/>
            <a:ext cx="3794760" cy="292608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960120"/>
            <a:ext cx="3794760" cy="2926080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2C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00584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94A3B8"/>
                </a:solidFill>
                <a:latin typeface="Arial"/>
              </a:defRPr>
            </a:pPr>
            <a:r>
              <a:t>Comparativa Visual (Accuracy)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48132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XGBoost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1481328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76.61%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801368"/>
            <a:ext cx="3493008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801368"/>
            <a:ext cx="2675993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35000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2350008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75.03%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2670048"/>
            <a:ext cx="3493008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2670048"/>
            <a:ext cx="2620803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21868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Reg. Logistica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3218688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t>74.01%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3538728"/>
            <a:ext cx="3493008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3538728"/>
            <a:ext cx="2585175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" y="4069080"/>
            <a:ext cx="11201400" cy="1691640"/>
          </a:xfrm>
          <a:prstGeom prst="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005072"/>
            <a:ext cx="11201400" cy="1691640"/>
          </a:xfrm>
          <a:prstGeom prst="rect">
            <a:avLst/>
          </a:prstGeom>
          <a:solidFill>
            <a:srgbClr val="0A1228"/>
          </a:solidFill>
          <a:ln w="19050">
            <a:solidFill>
              <a:srgbClr val="2C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09651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60A5FA"/>
                </a:solidFill>
                <a:latin typeface="Arial"/>
              </a:defRPr>
            </a:pPr>
            <a:r>
              <a:t>F1-Score por Clase — XGBoost (Modelo Principal)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480560"/>
            <a:ext cx="1078992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7200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EF4444"/>
                </a:solidFill>
                <a:latin typeface="Arial"/>
              </a:defRPr>
            </a:pPr>
            <a:r>
              <a:t>Desercion  (Dropout)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19472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F1 = 0.77  —  Detecta 3 de cada 4 alumnos en riesgo real.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457200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Graduado  (Graduate)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919472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F1 = 0.84  —  La clase mas predecible. Notas altas y pagos al dia.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457200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t>Matriculado  (Enrolled)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4919472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F1 = 0.49  —  Transicion inestable: no deserto pero tampoco graduo.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1E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8FAFC"/>
                </a:solidFill>
                <a:latin typeface="Arial"/>
              </a:defRPr>
            </a:pPr>
            <a:r>
              <a:t>Analisis de Riesgo Estudiantil  |  Python · XGBoost · SHAP · Streamlit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0E1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Clustering Socioeconomico y Explicabilidad (SHAP)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31520"/>
            <a:ext cx="3657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024128"/>
            <a:ext cx="5577840" cy="525780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960120"/>
            <a:ext cx="5577840" cy="52578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C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960120"/>
            <a:ext cx="5577840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115568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60A5FA"/>
                </a:solidFill>
                <a:latin typeface="Arial"/>
              </a:defRPr>
            </a:pPr>
            <a:r>
              <a:t>K-Means — 3 Perfiles de Vulnerabilidad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536192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Silhouette Score calcula y valida automaticamente la eleccion de K=3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892807"/>
            <a:ext cx="512064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7" y="2093976"/>
            <a:ext cx="5230368" cy="987552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029968"/>
            <a:ext cx="5230368" cy="987552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029968"/>
            <a:ext cx="109728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232257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357323"/>
            <a:ext cx="347472" cy="2779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21214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8FAFC"/>
                </a:solidFill>
                <a:latin typeface="Arial"/>
              </a:defRPr>
            </a:pPr>
            <a:r>
              <a:t>Becados y Estables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25328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Edad ~19.5 anos  |  Becarios: 85-90%  |  Deudores: 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36008" y="2322576"/>
            <a:ext cx="1252728" cy="3383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2340864"/>
            <a:ext cx="1252728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Arial"/>
              </a:defRPr>
            </a:pPr>
            <a:r>
              <a:t>RIESGO BAJO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7" y="3209544"/>
            <a:ext cx="5230368" cy="987552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3145536"/>
            <a:ext cx="5230368" cy="987552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145536"/>
            <a:ext cx="109728" cy="9875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" y="3438144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472891"/>
            <a:ext cx="347472" cy="2779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323697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8FAFC"/>
                </a:solidFill>
                <a:latin typeface="Arial"/>
              </a:defRPr>
            </a:pPr>
            <a:r>
              <a:t>Mayores en Alta Vulnerabilidad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364845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Edad ~29 anos  |  Becarios: &lt;5%  |  Deudores: 35-40%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36008" y="3438144"/>
            <a:ext cx="1252728" cy="3383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36008" y="3456432"/>
            <a:ext cx="1252728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Arial"/>
              </a:defRPr>
            </a:pPr>
            <a:r>
              <a:t>RIESGO ALTO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7" y="4325112"/>
            <a:ext cx="5230368" cy="987552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4261104"/>
            <a:ext cx="5230368" cy="987552"/>
          </a:xfrm>
          <a:prstGeom prst="roundRect">
            <a:avLst/>
          </a:prstGeom>
          <a:solidFill>
            <a:srgbClr val="0E18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4261104"/>
            <a:ext cx="109728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55371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88459"/>
            <a:ext cx="347472" cy="2779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435254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8FAFC"/>
                </a:solidFill>
                <a:latin typeface="Arial"/>
              </a:defRPr>
            </a:pPr>
            <a:r>
              <a:t>Jovenes sin Beca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47640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Edad ~20.2 anos  |  Becarios: 0%  |  Deudores: 12%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36008" y="4553712"/>
            <a:ext cx="1252728" cy="3383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6008" y="4572000"/>
            <a:ext cx="1252728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8FAFC"/>
                </a:solidFill>
                <a:latin typeface="Arial"/>
              </a:defRPr>
            </a:pPr>
            <a:r>
              <a:t>RIESGO MEDIO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230368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Arial"/>
              </a:defRPr>
            </a:pPr>
            <a:r>
              <a:t>El clustering corre el dia de la matricula, ANTES del primer examen. Identifica el grupo de riesgo sin necesidad de calificaciones.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01968" y="1024128"/>
            <a:ext cx="5303520" cy="525780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37960" y="960120"/>
            <a:ext cx="5303520" cy="52578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C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37960" y="960120"/>
            <a:ext cx="5303520" cy="10972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11155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A78BFA"/>
                </a:solidFill>
                <a:latin typeface="Arial"/>
              </a:defRPr>
            </a:pPr>
            <a:r>
              <a:t>Auditoria de Riesgo con SHAP (XAI)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20840" y="1554480"/>
            <a:ext cx="484632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75120" y="1773936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03720" y="1664208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3B82F6"/>
                </a:solidFill>
                <a:latin typeface="Arial"/>
              </a:defRPr>
            </a:pPr>
            <a:r>
              <a:t>Apertura de Caja Negra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2029968"/>
            <a:ext cx="47548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Explica que factores aumentan o reducen la desercion de cada alumno de forma individual, no como promedio.</a:t>
            </a:r>
          </a:p>
        </p:txBody>
      </p:sp>
      <p:sp>
        <p:nvSpPr>
          <p:cNvPr id="52" name="Oval 51"/>
          <p:cNvSpPr/>
          <p:nvPr/>
        </p:nvSpPr>
        <p:spPr>
          <a:xfrm>
            <a:off x="6675120" y="296265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03720" y="2852928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t>Accion Localizable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3218688"/>
            <a:ext cx="47548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El tutor identifica si el riesgo es financiero (deudas) o academico (notas bajas) para derivar el apoyo correcto.</a:t>
            </a:r>
          </a:p>
        </p:txBody>
      </p:sp>
      <p:sp>
        <p:nvSpPr>
          <p:cNvPr id="55" name="Oval 54"/>
          <p:cNvSpPr/>
          <p:nvPr/>
        </p:nvSpPr>
        <p:spPr>
          <a:xfrm>
            <a:off x="6675120" y="4151376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03720" y="4041648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Arial"/>
              </a:defRPr>
            </a:pPr>
            <a:r>
              <a:t>Grafica Dinamica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4407408"/>
            <a:ext cx="47548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Barras rojas: factores de riesgo (deudas, reprobacion). Barras azules: factores protectores (beca, materias aprobadas).</a:t>
            </a:r>
          </a:p>
        </p:txBody>
      </p:sp>
      <p:sp>
        <p:nvSpPr>
          <p:cNvPr id="58" name="Oval 57"/>
          <p:cNvSpPr/>
          <p:nvPr/>
        </p:nvSpPr>
        <p:spPr>
          <a:xfrm>
            <a:off x="6675120" y="5340096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03720" y="5230368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8B5CF6"/>
                </a:solidFill>
                <a:latin typeface="Arial"/>
              </a:defRPr>
            </a:pPr>
            <a:r>
              <a:t>Importancia Global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3720" y="5596128"/>
            <a:ext cx="47548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Calcula el impacto medio |SHAP| sobre la poblacion completa para identificar las variables mas criticas del sistema.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1E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8FAFC"/>
                </a:solidFill>
                <a:latin typeface="Arial"/>
              </a:defRPr>
            </a:pPr>
            <a:r>
              <a:t>Analisis de Riesgo Estudiantil  |  Python · XGBoost · SHAP · Streamlit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0E1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Conclusiones e Impacto del Sistema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31520"/>
            <a:ext cx="3657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024128"/>
            <a:ext cx="5577840" cy="242316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960120"/>
            <a:ext cx="5577840" cy="242316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C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960120"/>
            <a:ext cx="5577840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115568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60A5FA"/>
                </a:solidFill>
                <a:latin typeface="Arial"/>
              </a:defRPr>
            </a:pPr>
            <a:r>
              <a:t>Prevencion Inteligente Basada en Datos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554480"/>
            <a:ext cx="5212080" cy="27432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664208"/>
            <a:ext cx="52120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Arial"/>
              </a:defRPr>
            </a:pPr>
            <a:r>
              <a:t>El sistema reemplaza auditorias reactivas por predicciones oportunas con 76.6% de accuracy. Los tutores focalizan becas y tutorias en el grupo prioritario, optimizando los recursos institucionales.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1968" y="1024128"/>
            <a:ext cx="5303520" cy="242316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960120"/>
            <a:ext cx="5303520" cy="242316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C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960120"/>
            <a:ext cx="530352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1155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10B981"/>
                </a:solidFill>
                <a:latin typeface="Arial"/>
              </a:defRPr>
            </a:pPr>
            <a:r>
              <a:t>Valor Academico y Tecnico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1554480"/>
            <a:ext cx="4846320" cy="27432"/>
          </a:xfrm>
          <a:prstGeom prst="rect">
            <a:avLst/>
          </a:prstGeom>
          <a:solidFill>
            <a:srgbClr val="0A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664208"/>
            <a:ext cx="493776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Arial"/>
              </a:defRPr>
            </a:pPr>
            <a:r>
              <a:t>Arquitectura modular en Python bajo 3 paradigmas. Incluye manual de usuario, reporte de modelos, 13 pruebas unitarias y dashboard listo para produccion. Cumple integramente la rubrica de excelencia.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" y="3630168"/>
            <a:ext cx="2212848" cy="1938528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566160"/>
            <a:ext cx="2212848" cy="1938528"/>
          </a:xfrm>
          <a:prstGeom prst="roundRect">
            <a:avLst/>
          </a:prstGeom>
          <a:solidFill>
            <a:srgbClr val="0D16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566160"/>
            <a:ext cx="221284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721608"/>
            <a:ext cx="212140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 i="0">
                <a:solidFill>
                  <a:srgbClr val="10B981"/>
                </a:solidFill>
                <a:latin typeface="Arial"/>
              </a:defRPr>
            </a:pPr>
            <a:r>
              <a:t>76.6%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" y="4407408"/>
            <a:ext cx="1847088" cy="27432"/>
          </a:xfrm>
          <a:prstGeom prst="rect">
            <a:avLst/>
          </a:prstGeom>
          <a:solidFill>
            <a:srgbClr val="23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80560"/>
            <a:ext cx="2121408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Accuracy</a:t>
            </a:r>
            <a:br/>
            <a:r>
              <a:t>XGBoost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26664" y="3630168"/>
            <a:ext cx="2212848" cy="1938528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62656" y="3566160"/>
            <a:ext cx="2212848" cy="1938528"/>
          </a:xfrm>
          <a:prstGeom prst="roundRect">
            <a:avLst/>
          </a:prstGeom>
          <a:solidFill>
            <a:srgbClr val="0D162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62656" y="3566160"/>
            <a:ext cx="2212848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08376" y="3721608"/>
            <a:ext cx="212140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 i="0">
                <a:solidFill>
                  <a:srgbClr val="3B82F6"/>
                </a:solidFill>
                <a:latin typeface="Arial"/>
              </a:defRPr>
            </a:pPr>
            <a:r>
              <a:t>F1: 0.77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45536" y="4407408"/>
            <a:ext cx="1847088" cy="27432"/>
          </a:xfrm>
          <a:prstGeom prst="rect">
            <a:avLst/>
          </a:prstGeom>
          <a:solidFill>
            <a:srgbClr val="23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08376" y="4480560"/>
            <a:ext cx="2121408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Deteccion de</a:t>
            </a:r>
            <a:br/>
            <a:r>
              <a:t>Desercion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40" y="3630168"/>
            <a:ext cx="2212848" cy="1938528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85232" y="3566160"/>
            <a:ext cx="2212848" cy="1938528"/>
          </a:xfrm>
          <a:prstGeom prst="roundRect">
            <a:avLst/>
          </a:prstGeom>
          <a:solidFill>
            <a:srgbClr val="0D16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285232" y="3566160"/>
            <a:ext cx="2212848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30952" y="3721608"/>
            <a:ext cx="212140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 i="0">
                <a:solidFill>
                  <a:srgbClr val="F59E0B"/>
                </a:solidFill>
                <a:latin typeface="Arial"/>
              </a:defRPr>
            </a:pPr>
            <a:r>
              <a:t>Dia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68112" y="4407408"/>
            <a:ext cx="1847088" cy="27432"/>
          </a:xfrm>
          <a:prstGeom prst="rect">
            <a:avLst/>
          </a:prstGeom>
          <a:solidFill>
            <a:srgbClr val="23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30952" y="4480560"/>
            <a:ext cx="2121408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Clustering sin</a:t>
            </a:r>
            <a:br/>
            <a:r>
              <a:t>calificaciones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71816" y="3630168"/>
            <a:ext cx="2212848" cy="1938528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607808" y="3566160"/>
            <a:ext cx="2212848" cy="1938528"/>
          </a:xfrm>
          <a:prstGeom prst="roundRect">
            <a:avLst/>
          </a:prstGeom>
          <a:solidFill>
            <a:srgbClr val="0D162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607808" y="3566160"/>
            <a:ext cx="2212848" cy="10972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53528" y="3721608"/>
            <a:ext cx="212140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 i="0">
                <a:solidFill>
                  <a:srgbClr val="8B5CF6"/>
                </a:solidFill>
                <a:latin typeface="Arial"/>
              </a:defRPr>
            </a:pPr>
            <a:r>
              <a:t>SHAP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90688" y="4407408"/>
            <a:ext cx="1847088" cy="27432"/>
          </a:xfrm>
          <a:prstGeom prst="rect">
            <a:avLst/>
          </a:prstGeom>
          <a:solidFill>
            <a:srgbClr val="23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53528" y="4480560"/>
            <a:ext cx="2121408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XAI por</a:t>
            </a:r>
            <a:br/>
            <a:r>
              <a:t>alumno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94392" y="3630168"/>
            <a:ext cx="2212848" cy="1938528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930384" y="3566160"/>
            <a:ext cx="2212848" cy="1938528"/>
          </a:xfrm>
          <a:prstGeom prst="roundRect">
            <a:avLst/>
          </a:prstGeom>
          <a:solidFill>
            <a:srgbClr val="0D1628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930384" y="3566160"/>
            <a:ext cx="2212848" cy="10972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76104" y="3721608"/>
            <a:ext cx="212140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 i="0">
                <a:solidFill>
                  <a:srgbClr val="14B8A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13263" y="4407408"/>
            <a:ext cx="1847088" cy="27432"/>
          </a:xfrm>
          <a:prstGeom prst="rect">
            <a:avLst/>
          </a:prstGeom>
          <a:solidFill>
            <a:srgbClr val="23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76104" y="4480560"/>
            <a:ext cx="2121408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Paradigmas</a:t>
            </a:r>
            <a:br/>
            <a:r>
              <a:t>de codigo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" y="5705856"/>
            <a:ext cx="11201400" cy="594360"/>
          </a:xfrm>
          <a:prstGeom prst="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" y="5641848"/>
            <a:ext cx="11201400" cy="594360"/>
          </a:xfrm>
          <a:prstGeom prst="rect">
            <a:avLst/>
          </a:prstGeom>
          <a:solidFill>
            <a:srgbClr val="2563E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5705856"/>
            <a:ext cx="10789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8FAFC"/>
                </a:solidFill>
                <a:latin typeface="Arial"/>
              </a:defRPr>
            </a:pPr>
            <a:r>
              <a:t>"Este sistema no reemplaza al tutor academico, lo potencia. La informacion correcta, en el momento correcto, sobre el alumno correcto."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1E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8FAFC"/>
                </a:solidFill>
                <a:latin typeface="Arial"/>
              </a:defRPr>
            </a:pPr>
            <a:r>
              <a:t>Analisis de Riesgo Estudiantil  |  Python · XGBoost · SHAP · Streamlit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0E1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Preguntas Frecuentes del Jurado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31520"/>
            <a:ext cx="3657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024128"/>
            <a:ext cx="11201400" cy="160020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960120"/>
            <a:ext cx="11201400" cy="16002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960120"/>
            <a:ext cx="109728" cy="1600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051560"/>
            <a:ext cx="10789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3B82F6"/>
                </a:solidFill>
                <a:latin typeface="Arial"/>
              </a:defRPr>
            </a:pPr>
            <a:r>
              <a:t>P1:  ¿Por que XGBoost y no una red neuronal?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1490472"/>
            <a:ext cx="1069848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581912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Arial"/>
              </a:defRPr>
            </a:pPr>
            <a:r>
              <a:t>Con ~4,000 registros, una red neuronal no justifica su complejidad. XGBoost maximiza el accuracy con menor costo computacional y es nativamente compatible con SHAP para generar explicaciones locales por alumno.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" y="2807208"/>
            <a:ext cx="11201400" cy="160020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743200"/>
            <a:ext cx="11201400" cy="16002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43200"/>
            <a:ext cx="10972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834640"/>
            <a:ext cx="10789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P2:  ¿El modelo no discrimina por genero o etnia?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3273552"/>
            <a:ext cx="1069848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364992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Arial"/>
              </a:defRPr>
            </a:pPr>
            <a:r>
              <a:t>Segun el analisis SHAP global, los factores academicos y financieros dominan las predicciones. El genero es variable secundaria. Se usa class_weight='balanced' para evitar sesgos de clase en el entrenamiento.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" y="4590288"/>
            <a:ext cx="11201400" cy="1600200"/>
          </a:xfrm>
          <a:prstGeom prst="roundRect">
            <a:avLst/>
          </a:prstGeom>
          <a:solidFill>
            <a:srgbClr val="04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526280"/>
            <a:ext cx="11201400" cy="16002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526280"/>
            <a:ext cx="10972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617720"/>
            <a:ext cx="10789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0B981"/>
                </a:solidFill>
                <a:latin typeface="Arial"/>
              </a:defRPr>
            </a:pPr>
            <a:r>
              <a:t>P3:  ¿Como se justifica K=3 en el clustering?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" y="5056632"/>
            <a:ext cx="10698480" cy="27432"/>
          </a:xfrm>
          <a:prstGeom prst="rect">
            <a:avLst/>
          </a:prstGeom>
          <a:solidFill>
            <a:srgbClr val="2C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148072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Arial"/>
              </a:defRPr>
            </a:pPr>
            <a:r>
              <a:t>Se calcula el Silhouette Score para K=2 hasta K=6 (visible en la pestana 'Validacion del Modelo' del dashboard). K=3 maximiza la separacion entre clusters en los datos socioeconomicos multivariados del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